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9144000" cy="51435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8">
          <p15:clr>
            <a:srgbClr val="000000"/>
          </p15:clr>
        </p15:guide>
        <p15:guide id="2" orient="horz" pos="1223">
          <p15:clr>
            <a:srgbClr val="000000"/>
          </p15:clr>
        </p15:guide>
        <p15:guide id="3" orient="horz" pos="1686">
          <p15:clr>
            <a:srgbClr val="000000"/>
          </p15:clr>
        </p15:guide>
        <p15:guide id="4" pos="2034">
          <p15:clr>
            <a:srgbClr val="000000"/>
          </p15:clr>
        </p15:guide>
        <p15:guide id="5" pos="3807">
          <p15:clr>
            <a:srgbClr val="000000"/>
          </p15:clr>
        </p15:guide>
        <p15:guide id="6" orient="horz" pos="1142">
          <p15:clr>
            <a:srgbClr val="000000"/>
          </p15:clr>
        </p15:guide>
        <p15:guide id="7" pos="113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8" orient="horz"/>
        <p:guide pos="1223" orient="horz"/>
        <p:guide pos="1686" orient="horz"/>
        <p:guide pos="2034"/>
        <p:guide pos="3807"/>
        <p:guide pos="1142" orient="horz"/>
        <p:guide pos="11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22" Type="http://schemas.openxmlformats.org/officeDocument/2006/relationships/slide" Target="slides/slide17.xml"/><Relationship Id="rId44" Type="http://schemas.openxmlformats.org/officeDocument/2006/relationships/font" Target="fonts/Montserrat-bold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f20affec7_1_1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7f20affec7_1_1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ed3169f3d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ed3169f3d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ed3169f3d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7ed3169f3d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20affec7_1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7f20affec7_1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f20affec7_1_7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f20affec7_1_7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f20affec7_1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7f20affec7_1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ed3169f3d_0_4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ed3169f3d_0_4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ed3169f3d_0_9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7ed3169f3d_0_9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d3169f3d_0_14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ed3169f3d_0_14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f20affec7_1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7f20affec7_1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ed3169f3d_0_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ed3169f3d_0_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f20affec7_1_8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f20affec7_1_8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20affec7_1_9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7f20affec7_1_9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20affec7_1_10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f20affec7_1_10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20affec7_1_2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7f20affec7_1_2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20affec7_1_1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7f20affec7_1_1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f20affec7_1_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7f20affec7_1_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f20affec7_1_5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f20affec7_1_5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f20affec7_1_4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7f20affec7_1_4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f20affec7_1_5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7f20affec7_1_5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ed3169f3d_0_5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ed3169f3d_0_5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ed3169f3d_0_7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7ed3169f3d_0_7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ed3169f3d_0_7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7ed3169f3d_0_7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ed3169f3d_0_6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7ed3169f3d_0_6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f20affec7_1_12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7f20affec7_1_12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ычный слайд ">
  <p:cSld name="3_TITLE">
    <p:bg>
      <p:bgPr>
        <a:solidFill>
          <a:srgbClr val="FFFAED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3_Пользовательский макет">
    <p:bg>
      <p:bgPr>
        <a:solidFill>
          <a:srgbClr val="005FA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5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" type="body"/>
          </p:nvPr>
        </p:nvSpPr>
        <p:spPr>
          <a:xfrm>
            <a:off x="2116075" y="2921149"/>
            <a:ext cx="79971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●"/>
              <a:def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"/>
              <a:buNone/>
              <a:defRPr b="0" i="0" sz="4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урока" type="title">
  <p:cSld name="TITLE">
    <p:bg>
      <p:bgPr>
        <a:solidFill>
          <a:srgbClr val="005FA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755" y="4402626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5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828" y="3814494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 txBox="1"/>
          <p:nvPr/>
        </p:nvSpPr>
        <p:spPr>
          <a:xfrm rot="2700000">
            <a:off x="2322864" y="4279502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ndustry40.co.in/wp-content/uploads/2022/06/banner2.png" TargetMode="External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hyperlink" Target="https://www.dataapplab.com/wp-content/uploads/2022/01/Hadoop%E8%A7%A3%E5%86%B3%E4%BA%86%E5%93%AA%E4%BA%9B%E9%97%AE%E9%A2%98.p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/>
        </p:nvSpPr>
        <p:spPr>
          <a:xfrm>
            <a:off x="660316" y="4113011"/>
            <a:ext cx="3901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lang="ru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Google Shape;23;p6"/>
          <p:cNvSpPr txBox="1"/>
          <p:nvPr/>
        </p:nvSpPr>
        <p:spPr>
          <a:xfrm>
            <a:off x="590741" y="4659084"/>
            <a:ext cx="39012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Google Shape;24;p6"/>
          <p:cNvSpPr txBox="1"/>
          <p:nvPr/>
        </p:nvSpPr>
        <p:spPr>
          <a:xfrm>
            <a:off x="344425" y="120225"/>
            <a:ext cx="798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Введение в Big Data и экосистему Hadoop</a:t>
            </a:r>
            <a:endParaRPr b="1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Google Shape;25;p6"/>
          <p:cNvSpPr txBox="1"/>
          <p:nvPr/>
        </p:nvSpPr>
        <p:spPr>
          <a:xfrm>
            <a:off x="414000" y="1795800"/>
            <a:ext cx="7560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От архитектурного тупика к горизонтальному масштабированию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126225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photo_2022-09-13_13-44-00.jpg"/>
          <p:cNvPicPr preferRelativeResize="0"/>
          <p:nvPr/>
        </p:nvPicPr>
        <p:blipFill rotWithShape="1">
          <a:blip r:embed="rId3">
            <a:alphaModFix/>
          </a:blip>
          <a:srcRect b="0" l="2945" r="2945" t="0"/>
          <a:stretch/>
        </p:blipFill>
        <p:spPr>
          <a:xfrm>
            <a:off x="6445550" y="1416525"/>
            <a:ext cx="2088000" cy="2520000"/>
          </a:xfrm>
          <a:prstGeom prst="roundRect">
            <a:avLst>
              <a:gd fmla="val 7530" name="adj"/>
            </a:avLst>
          </a:prstGeom>
          <a:noFill/>
          <a:ln>
            <a:noFill/>
          </a:ln>
        </p:spPr>
      </p:pic>
      <p:sp>
        <p:nvSpPr>
          <p:cNvPr id="32" name="Google Shape;32;p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Булгакова Татьяна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265000" y="1203325"/>
            <a:ext cx="59700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Профессиональный опыт в Data Science с 2010 года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Участвовала в научно-исследовательских и коммерческих проектах в области анализа сигналов, рекомендательных систем и биотехнологий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Оказываю консалтинговые услуги по внедрению решений на базе искусственного интеллекта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проекты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НИИ ИПЭЭ РАН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	– Разработка программного обеспечения для настройки оборудования исследования пространственного слуха китообразных. 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Медицинские центры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– Создание и внедрение рекомендательных систем для оптимальной настройки нейростимуляторов пациентам.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Цель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540000" y="1440000"/>
            <a:ext cx="5277600" cy="20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Понять фундаментальные проблемы больших данных и почему традиционные подходы не работают.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Усвоить модель 5V как практический чек-лист для выбора инструментов.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Увидеть экосистему Hadoop в действии и запустить свой первый мини-кластер.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Связать концепции Big Data с реальными задачами Machine Learning.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-47" r="47704" t="7475"/>
          <a:stretch/>
        </p:blipFill>
        <p:spPr>
          <a:xfrm flipH="1" rot="10800000">
            <a:off x="5581375" y="1213701"/>
            <a:ext cx="3562624" cy="392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231051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0" y="1466650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8000" y="1466902"/>
            <a:ext cx="143953" cy="14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09" y="29954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/>
          <p:nvPr/>
        </p:nvSpPr>
        <p:spPr>
          <a:xfrm>
            <a:off x="864009" y="13300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больших данных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4930333" y="1440000"/>
            <a:ext cx="3019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Демо: Запуск Hadoop-кластера	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9"/>
          <p:cNvSpPr txBox="1"/>
          <p:nvPr/>
        </p:nvSpPr>
        <p:spPr>
          <a:xfrm>
            <a:off x="864009" y="2098200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 5V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9"/>
          <p:cNvSpPr txBox="1"/>
          <p:nvPr/>
        </p:nvSpPr>
        <p:spPr>
          <a:xfrm>
            <a:off x="864009" y="2866383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Big Data-систем	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997" y="3759850"/>
            <a:ext cx="143953" cy="14395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/>
        </p:nvSpPr>
        <p:spPr>
          <a:xfrm>
            <a:off x="863998" y="3678525"/>
            <a:ext cx="3118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Экосистема Hadoop	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больших данных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32775" y="850123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/>
        </p:nvSpPr>
        <p:spPr>
          <a:xfrm>
            <a:off x="540000" y="504000"/>
            <a:ext cx="7560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 DATA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7324650" y="3857100"/>
            <a:ext cx="12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u="sng">
                <a:solidFill>
                  <a:schemeClr val="hlink"/>
                </a:solidFill>
                <a:hlinkClick r:id="rId3"/>
              </a:rPr>
              <a:t>Источник</a:t>
            </a:r>
            <a:endParaRPr sz="800"/>
          </a:p>
        </p:txBody>
      </p:sp>
      <p:pic>
        <p:nvPicPr>
          <p:cNvPr id="68" name="Google Shape;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4277" y="1941525"/>
            <a:ext cx="4898447" cy="17986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490275" y="1074175"/>
            <a:ext cx="874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Big Data — это совокупность данных, обладающих особыми характеристиками, из-за которых традиционные методы хранения и обработки оказываются неэффективными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634500" y="22659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Montserrat"/>
                <a:ea typeface="Montserrat"/>
                <a:cs typeface="Montserrat"/>
                <a:sym typeface="Montserrat"/>
              </a:rPr>
              <a:t>Ключевая мысль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Проблема не в самом объеме, а в неэффективности и затратности классических решений (вертикальное масштабирование, реляционные СУБД).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490275" y="4281825"/>
            <a:ext cx="842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latin typeface="Montserrat"/>
                <a:ea typeface="Montserrat"/>
                <a:cs typeface="Montserrat"/>
                <a:sym typeface="Montserrat"/>
              </a:rPr>
              <a:t>"Если ваши данные перестают помещаться в память одного сервера и их обработка занимает неприлично много времени — вы столкнулись с проблемой Big Data."</a:t>
            </a:r>
            <a:endParaRPr i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/>
        </p:nvSpPr>
        <p:spPr>
          <a:xfrm>
            <a:off x="540000" y="504000"/>
            <a:ext cx="7971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Почему традиционные системы ломаются?</a:t>
            </a:r>
            <a:endParaRPr b="1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2" title="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675" y="1056200"/>
            <a:ext cx="8148624" cy="33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540000" y="504000"/>
            <a:ext cx="7560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Концепция 5V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Критерии выбора инструментов.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5V — это практический чек-лист. Прежде чем выбрать технологию, спросите: "Какие V я решаю?"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50" y="2003724"/>
            <a:ext cx="7331750" cy="172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/>
          <p:nvPr/>
        </p:nvSpPr>
        <p:spPr>
          <a:xfrm>
            <a:off x="540000" y="3941200"/>
            <a:ext cx="783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Разные комбинации V требуют разных инструментов (Hadoop, Spark, Kafka, NoSQL и т.д.).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100" y="2120600"/>
            <a:ext cx="5121350" cy="15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307150" y="248100"/>
            <a:ext cx="67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latin typeface="Montserrat"/>
                <a:ea typeface="Montserrat"/>
                <a:cs typeface="Montserrat"/>
                <a:sym typeface="Montserrat"/>
              </a:rPr>
              <a:t>Volume (Объем)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60300" y="880975"/>
            <a:ext cx="6864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Количество генерируемых и хранимых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360300" y="1416925"/>
            <a:ext cx="3260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Пороговые значения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Гигабайты (ГБ)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территория классических СУБД.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Терабайты (ТБ)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зона решений вроде мощных Data Warehouse.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Петабайты (ПБ) и выше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 царство Hadoop, облачных хранилищ и распределенных систем.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539998" y="1008000"/>
            <a:ext cx="704460" cy="518808"/>
          </a:xfrm>
          <a:custGeom>
            <a:rect b="b" l="l" r="r" t="t"/>
            <a:pathLst>
              <a:path extrusionOk="0" h="1037616" w="1408919">
                <a:moveTo>
                  <a:pt x="1014726" y="0"/>
                </a:moveTo>
                <a:lnTo>
                  <a:pt x="1370771" y="0"/>
                </a:lnTo>
                <a:lnTo>
                  <a:pt x="1243612" y="429797"/>
                </a:lnTo>
                <a:cubicBezTo>
                  <a:pt x="1296171" y="455229"/>
                  <a:pt x="1336862" y="492105"/>
                  <a:pt x="1365685" y="540425"/>
                </a:cubicBezTo>
                <a:cubicBezTo>
                  <a:pt x="1394507" y="588745"/>
                  <a:pt x="1408919" y="645967"/>
                  <a:pt x="1408919" y="712089"/>
                </a:cubicBezTo>
                <a:cubicBezTo>
                  <a:pt x="1408919" y="810425"/>
                  <a:pt x="1377553" y="889264"/>
                  <a:pt x="1314821" y="948605"/>
                </a:cubicBezTo>
                <a:cubicBezTo>
                  <a:pt x="1252090" y="1007945"/>
                  <a:pt x="1171555" y="1037616"/>
                  <a:pt x="1073219" y="1037616"/>
                </a:cubicBezTo>
                <a:cubicBezTo>
                  <a:pt x="974883" y="1037616"/>
                  <a:pt x="894349" y="1007945"/>
                  <a:pt x="831618" y="948605"/>
                </a:cubicBezTo>
                <a:cubicBezTo>
                  <a:pt x="768886" y="889264"/>
                  <a:pt x="737520" y="810425"/>
                  <a:pt x="737520" y="712089"/>
                </a:cubicBezTo>
                <a:cubicBezTo>
                  <a:pt x="737520" y="668008"/>
                  <a:pt x="743454" y="623926"/>
                  <a:pt x="755323" y="579844"/>
                </a:cubicBezTo>
                <a:cubicBezTo>
                  <a:pt x="767191" y="535763"/>
                  <a:pt x="794318" y="468792"/>
                  <a:pt x="836704" y="378933"/>
                </a:cubicBezTo>
                <a:close/>
                <a:moveTo>
                  <a:pt x="277206" y="0"/>
                </a:moveTo>
                <a:lnTo>
                  <a:pt x="633250" y="0"/>
                </a:lnTo>
                <a:lnTo>
                  <a:pt x="506091" y="429797"/>
                </a:lnTo>
                <a:cubicBezTo>
                  <a:pt x="558650" y="455229"/>
                  <a:pt x="599341" y="492105"/>
                  <a:pt x="628164" y="540425"/>
                </a:cubicBezTo>
                <a:cubicBezTo>
                  <a:pt x="656986" y="588745"/>
                  <a:pt x="671398" y="645967"/>
                  <a:pt x="671398" y="712089"/>
                </a:cubicBezTo>
                <a:cubicBezTo>
                  <a:pt x="671398" y="810425"/>
                  <a:pt x="640032" y="889264"/>
                  <a:pt x="577300" y="948605"/>
                </a:cubicBezTo>
                <a:cubicBezTo>
                  <a:pt x="514569" y="1007945"/>
                  <a:pt x="434035" y="1037616"/>
                  <a:pt x="335699" y="1037616"/>
                </a:cubicBezTo>
                <a:cubicBezTo>
                  <a:pt x="237363" y="1037616"/>
                  <a:pt x="156829" y="1007945"/>
                  <a:pt x="94097" y="948605"/>
                </a:cubicBezTo>
                <a:cubicBezTo>
                  <a:pt x="31365" y="889264"/>
                  <a:pt x="0" y="810425"/>
                  <a:pt x="0" y="712089"/>
                </a:cubicBezTo>
                <a:cubicBezTo>
                  <a:pt x="0" y="668008"/>
                  <a:pt x="5934" y="623926"/>
                  <a:pt x="17802" y="579844"/>
                </a:cubicBezTo>
                <a:cubicBezTo>
                  <a:pt x="29670" y="535763"/>
                  <a:pt x="56797" y="468792"/>
                  <a:pt x="99183" y="37893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1101150" y="1526800"/>
            <a:ext cx="7254300" cy="23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каким объемом вы работаете?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чат: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(ГБ)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(ТБ) 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Char char="●"/>
            </a:pPr>
            <a:r>
              <a:rPr lang="ru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(ПБ+)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Velocity (Скорость)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75" y="2262800"/>
            <a:ext cx="5587998" cy="182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478475" y="1110500"/>
            <a:ext cx="630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Скорость генерации и обработки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81325" y="1510700"/>
            <a:ext cx="564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Два основных режима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Пакетная обработка (Batch)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Потоковая обработка (Streaming)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13900" y="4087625"/>
            <a:ext cx="75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Montserrat"/>
                <a:ea typeface="Montserrat"/>
                <a:cs typeface="Montserrat"/>
                <a:sym typeface="Montserrat"/>
              </a:rPr>
              <a:t>Скорость обновления ваших данных определяет, как часто вы можете переобучать модель.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Variety (Разнообразие)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590700" y="1033725"/>
            <a:ext cx="621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Разнообразие форматов и типов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225" y="1655675"/>
            <a:ext cx="4120199" cy="234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697025" y="1399950"/>
            <a:ext cx="3892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Типы данных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Структурированные: таблицы (CSV), реляционные БД. Имеют строгую схему.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Полуструктурированные: логи, JSON, XML. Схема есть, но она гибкая.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Неструктурированные: изображения, видео, аудио, тексты. Не имеют явной схемы.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Veracity (Достоверность)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97" y="1584400"/>
            <a:ext cx="6910450" cy="18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Value (Ценность)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96600" y="962850"/>
            <a:ext cx="631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Полезность и бизнес-ценность, извлекаемая из данных.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26550" y="1506675"/>
            <a:ext cx="6350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Примеры ценности: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Netflix: Рекомендации (удержание клиентов).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Uber: Оптимизация маршрутов и расчет "взвинченных" тарифов.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Банки: Выявление мошенничества.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Финальный вопрос: "Какую ценность вы хотите извлечь из своих данных?"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Big Data-систем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632775" y="109196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Трехуровневая модель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000" y="2798801"/>
            <a:ext cx="7485650" cy="69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/>
        </p:nvSpPr>
        <p:spPr>
          <a:xfrm>
            <a:off x="577200" y="1470225"/>
            <a:ext cx="7485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Любую сложную Big Data-систему можно разложить на три фундаментальных слоя.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Понимание этой архитектуры помогает проектировать системы "с умом" и правильно выбирать инструменты для каждой задачи.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1: Хранение (Storage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76" y="1210955"/>
            <a:ext cx="6147973" cy="135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494800" y="2640849"/>
            <a:ext cx="7316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Требования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Горизонтальная масштабируемость: возможность добавлять "узлы" (серверы) в кластер.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Отказоустойчивость: данные должны сохраняться при выходе из строя любого оборудования.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-"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Экономичность: использование экономичного оборудования.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Главный герой: HDFS (Hadoop Distributed File System) — "жесткий диск" кластера.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2: Обработка (Processing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79498" y="1883451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1690325"/>
            <a:ext cx="7890874" cy="26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/>
        </p:nvSpPr>
        <p:spPr>
          <a:xfrm>
            <a:off x="540000" y="185950"/>
            <a:ext cx="80109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Уровень 3: Аналитика (Analytics Layer)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13" y="2436226"/>
            <a:ext cx="7554473" cy="7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499475" y="1347388"/>
            <a:ext cx="825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Превратить обработанные данные в понятные человеку инсайты, отчеты и работающие ML-модели.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Экосистема Hadoop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563200" y="11417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540000" y="185950"/>
            <a:ext cx="80109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История создания Hadoop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25" y="1007276"/>
            <a:ext cx="8070099" cy="19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67075" y="3727300"/>
            <a:ext cx="727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Montserrat"/>
                <a:ea typeface="Montserrat"/>
                <a:cs typeface="Montserrat"/>
                <a:sym typeface="Montserrat"/>
              </a:rPr>
              <a:t>Название 'Hadoop' не имеет технического смысла — так сын создателя Дуга Каттинга называл свою плюшевую слониху!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540000" y="360400"/>
            <a:ext cx="7560000" cy="11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Три кита Hadoop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Фундаментальные компоненты экосистемы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588663"/>
            <a:ext cx="64579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498025" y="4546075"/>
            <a:ext cx="28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Источник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540000" y="161100"/>
            <a:ext cx="8172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1: HDFS (Hadoop Distributed File System)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950" y="1370350"/>
            <a:ext cx="5272375" cy="33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540000" y="1611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2: MapReduce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400" y="810100"/>
            <a:ext cx="4838630" cy="35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373900" y="1117900"/>
            <a:ext cx="3637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1: Данные разбиваются на части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2: Параллельные задачи Map на кластере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3: Shuffle/Sort: группировка по ключам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ШАГ 4: Reduce агрегирует результаты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РЕЗУЛЬТАТ: собранные итоговые данные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179400" y="171800"/>
            <a:ext cx="828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🐘 Кит 3: YARN (Yet Another Resource Negotiator)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0"/>
          <p:cNvSpPr txBox="1"/>
          <p:nvPr/>
        </p:nvSpPr>
        <p:spPr>
          <a:xfrm>
            <a:off x="523225" y="1264500"/>
            <a:ext cx="7225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Роль: "Директор" кластера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Задача: управление ресурсами (CPU, память)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Функция: распределение задач между узлами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latin typeface="Montserrat"/>
                <a:ea typeface="Montserrat"/>
                <a:cs typeface="Montserrat"/>
                <a:sym typeface="Montserrat"/>
              </a:rPr>
              <a:t>• Важность: позволяет запускать разные фреймворки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/>
        </p:nvSpPr>
        <p:spPr>
          <a:xfrm>
            <a:off x="540000" y="38775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Принцип "Move Computation to Data"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800" y="1098725"/>
            <a:ext cx="5129682" cy="2397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465075" y="150325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ontserrat"/>
                <a:ea typeface="Montserrat"/>
                <a:cs typeface="Montserrat"/>
                <a:sym typeface="Montserrat"/>
              </a:rPr>
              <a:t>Математика эффективности</a:t>
            </a: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Традиционный: 10 ТБ / 1 Гбит/с ≈ 22 часа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ontserrat"/>
                <a:ea typeface="Montserrat"/>
                <a:cs typeface="Montserrat"/>
                <a:sym typeface="Montserrat"/>
              </a:rPr>
              <a:t>Hadoop: 1 МБ / 1 Гбит/с ≈ 0.008 сек × 100 узлов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HDFS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00850" y="1277625"/>
            <a:ext cx="34029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NameNode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один, хранит карту блоков, метаданные.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DataNode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их много, каждый хранит реальные блоки данных (например, DN1...DN5).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Репликация — </a:t>
            </a: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каждый блок (например, Block1) хранится сразу на трёх разных DataNode.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099" y="1252488"/>
            <a:ext cx="4774150" cy="28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/>
        </p:nvSpPr>
        <p:spPr>
          <a:xfrm>
            <a:off x="540000" y="504000"/>
            <a:ext cx="7560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Почему Hadoop важен для ML?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400850" y="1277625"/>
            <a:ext cx="70074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📊 Сырые данные (10 ТБ) → HDFS (хранение)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🛠️ Очистка и feature engineering → MapReduce/Spark (обработка)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🧠 Обучение модели → Spark MLlib/Mahout (аналитика)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🚀 Прогнозирование → Развернутая модель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" name="Google Shape;228;p33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922623" y="1868551"/>
            <a:ext cx="3264502" cy="331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/>
        </p:nvSpPr>
        <p:spPr>
          <a:xfrm>
            <a:off x="540000" y="504000"/>
            <a:ext cx="7560000" cy="9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Преимущества для науки о данных:</a:t>
            </a:r>
            <a:endParaRPr b="1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540000" y="1440000"/>
            <a:ext cx="6677100" cy="2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Данные всегда доступны в одном месте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Не нужно перемещать терабайты между системами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Можно обрабатывать ВСЕ данные, а не только выборку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lang="ru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Горизонтальное масштабирование под любые объемы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34"/>
          <p:cNvPicPr preferRelativeResize="0"/>
          <p:nvPr/>
        </p:nvPicPr>
        <p:blipFill rotWithShape="1">
          <a:blip r:embed="rId3">
            <a:alphaModFix/>
          </a:blip>
          <a:srcRect b="0" l="33065" r="0" t="0"/>
          <a:stretch/>
        </p:blipFill>
        <p:spPr>
          <a:xfrm rot="10800000">
            <a:off x="5892798" y="1863576"/>
            <a:ext cx="3264502" cy="331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/>
        </p:nvSpPr>
        <p:spPr>
          <a:xfrm>
            <a:off x="540000" y="504000"/>
            <a:ext cx="7047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</a:pPr>
            <a:r>
              <a:rPr b="1" lang="ru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Демо: Запуск Hadoop-кластера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 rotWithShape="1">
          <a:blip r:embed="rId3">
            <a:alphaModFix/>
          </a:blip>
          <a:srcRect b="20799" l="0" r="0" t="-20800"/>
          <a:stretch/>
        </p:blipFill>
        <p:spPr>
          <a:xfrm>
            <a:off x="-1563200" y="114171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/>
        </p:nvSpPr>
        <p:spPr>
          <a:xfrm>
            <a:off x="660316" y="4113011"/>
            <a:ext cx="3901199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1" i="0" lang="ru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Фамилия Имя </a:t>
            </a:r>
            <a:endParaRPr b="1" i="0" sz="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660316" y="4321159"/>
            <a:ext cx="3901199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Ваша должность в одну-две строки 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9" name="Google Shape;24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7850" y="471975"/>
            <a:ext cx="10902502" cy="39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killbox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3D3BFF"/>
      </a:accent1>
      <a:accent2>
        <a:srgbClr val="FCACA9"/>
      </a:accent2>
      <a:accent3>
        <a:srgbClr val="262626"/>
      </a:accent3>
      <a:accent4>
        <a:srgbClr val="A5A5A5"/>
      </a:accent4>
      <a:accent5>
        <a:srgbClr val="D8D8D8"/>
      </a:accent5>
      <a:accent6>
        <a:srgbClr val="F2F2F2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